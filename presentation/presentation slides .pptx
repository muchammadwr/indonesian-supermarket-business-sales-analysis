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789971c0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789971c0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789971c0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789971c0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8a77cfb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8a77cf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8a77cfb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8a77cfb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78a77cfb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78a77cfb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8a77cfb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78a77cfb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8a77cfb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8a77cfb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78a77cfb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78a77cfb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ac23db18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ac23db18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78b626e2f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78b626e2f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789971c03_6_0)">
  <p:cSld name="Generated (g3f789971c03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571500" y="381000"/>
            <a:ext cx="4000500" cy="4000500"/>
            <a:chOff x="0" y="0"/>
            <a:chExt cx="4000500" cy="40005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19875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0" y="190500"/>
              <a:ext cx="4000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Market Analysis</a:t>
              </a:r>
              <a:endParaRPr b="1" sz="140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Indonesian</a:t>
              </a:r>
              <a:b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Supermarket</a:t>
              </a:r>
              <a:b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Business</a:t>
              </a:r>
              <a:endParaRPr b="0" sz="38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00">
                <a:solidFill>
                  <a:srgbClr val="4A5D4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high-quality, professional photograph of a modern, clean supermarket aisle in Indonesia, filled with fresh local tropical fruits and neatly organized groceries. Vibrant colors, soft natural lighting, elegant presentation suitable for corporate slide background." id="59" name="Google Shape;59;p14"/>
          <p:cNvPicPr preferRelativeResize="0"/>
          <p:nvPr/>
        </p:nvPicPr>
        <p:blipFill rotWithShape="1">
          <a:blip r:embed="rId4">
            <a:alphaModFix/>
          </a:blip>
          <a:srcRect b="0" l="8699" r="8691" t="0"/>
          <a:stretch/>
        </p:blipFill>
        <p:spPr>
          <a:xfrm>
            <a:off x="4953000" y="381000"/>
            <a:ext cx="3619500" cy="4381500"/>
          </a:xfrm>
          <a:prstGeom prst="roundRect">
            <a:avLst>
              <a:gd fmla="val 6315" name="adj"/>
            </a:avLst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3475" y="371475"/>
            <a:ext cx="3638700" cy="44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571500" y="666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Background &amp; Objective</a:t>
            </a:r>
            <a:endParaRPr b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571500" y="1428750"/>
            <a:ext cx="3810000" cy="3048000"/>
            <a:chOff x="0" y="0"/>
            <a:chExt cx="3810000" cy="3048000"/>
          </a:xfrm>
        </p:grpSpPr>
        <p:sp>
          <p:nvSpPr>
            <p:cNvPr id="68" name="Google Shape;68;p15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285750" y="285750"/>
              <a:ext cx="3238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r>
                <a:rPr b="1" lang="en" sz="180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Background</a:t>
              </a:r>
              <a:endParaRPr b="1" sz="180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The company needs a clear overview of its sales performance from 2014 to 2017 across time, regions, product categories, cities, and shipping methods.</a:t>
              </a:r>
              <a:endParaRPr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4762500" y="1428750"/>
            <a:ext cx="3810000" cy="3048000"/>
            <a:chOff x="0" y="0"/>
            <a:chExt cx="3810000" cy="30480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285750" y="285750"/>
              <a:ext cx="3238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r>
                <a:rPr b="1" lang="en" sz="180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Objective</a:t>
              </a:r>
              <a:endParaRPr b="1" sz="180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To identify sales trends, regional and category contributions, the highest-performing city and month, and the most frequently used shipping method.</a:t>
              </a:r>
              <a:endParaRPr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What was the trend in sales value from 2014 to 2017?</a:t>
            </a:r>
            <a:endParaRPr b="0" i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16"/>
          <p:cNvGrpSpPr/>
          <p:nvPr/>
        </p:nvGrpSpPr>
        <p:grpSpPr>
          <a:xfrm>
            <a:off x="4762500" y="1428750"/>
            <a:ext cx="3810000" cy="3048000"/>
            <a:chOff x="0" y="0"/>
            <a:chExt cx="3810000" cy="3048000"/>
          </a:xfrm>
        </p:grpSpPr>
        <p:sp>
          <p:nvSpPr>
            <p:cNvPr id="80" name="Google Shape;80;p16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285750" y="285750"/>
              <a:ext cx="3238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r>
                <a:rPr b="1" lang="en" sz="153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Consistent Growth Trend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272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+52%</a:t>
              </a:r>
              <a:r>
                <a:rPr b="1" lang="en" sz="1105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Overall Sales Increase</a:t>
              </a:r>
              <a:endParaRPr sz="102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A5568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Initial Dip (2014-2015):</a:t>
              </a:r>
              <a:r>
                <a:rPr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Sales started at 7.3B in 2014, experiencing a minor decline to 7.1B in 2015.</a:t>
              </a:r>
              <a:endParaRPr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Strong Recovery (2016):</a:t>
              </a:r>
              <a:r>
                <a:rPr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Sales rebounded sharply to 9.2B, showing a robust upward trajectory.</a:t>
              </a:r>
              <a:endParaRPr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Peak Performance (2017):</a:t>
              </a:r>
              <a:r>
                <a:rPr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Reached an all-time high of 11.1B, confirming strong market expansion.</a:t>
              </a:r>
              <a:endParaRPr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16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428750"/>
            <a:ext cx="3503625" cy="261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What was the proportion of orders by region?</a:t>
            </a:r>
            <a:endParaRPr b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room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Regional Order Distribution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East &amp; West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Drive Over 60% of Total Orders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1125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East Region Leads: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Generates the highest proportion of supermarket orders.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West Region: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Follows closely as the second-largest contributor to sales volume.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Central &amp; South: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Represent smaller, developing markets with high growth potential.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88" y="1457325"/>
            <a:ext cx="399097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What was the sales proportion for each product category?</a:t>
            </a:r>
            <a:endParaRPr b="0" sz="222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shopping_bag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Product Category Sales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Technology Leads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With Over 12.6B in Total Sales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1125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Technology: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Highest contributor with 12.6B, driven by high-value accessories.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Furniture: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Strong performance at 11.2B, showing consistent customer demand.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Office Supplies: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Close third at 10.9B, representing high-volume essential orders.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88" y="1390650"/>
            <a:ext cx="399097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Which city generated the highest sales?</a:t>
            </a:r>
            <a:endParaRPr b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place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 City Sales Performance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Balikpapan Leads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With Around Rp4.1 Billion in Total Sales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1125"/>
              </a:spcBef>
              <a:spcAft>
                <a:spcPts val="0"/>
              </a:spcAft>
              <a:buClr>
                <a:srgbClr val="4A5568"/>
              </a:buClr>
              <a:buSzPts val="1700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Highest Sales: </a:t>
            </a:r>
            <a:r>
              <a:rPr lang="en" sz="935">
                <a:solidFill>
                  <a:srgbClr val="4A5568"/>
                </a:solidFill>
              </a:rPr>
              <a:t>Balikpapan City generated the highest sales value</a:t>
            </a: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700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Market Dominance: </a:t>
            </a:r>
            <a:r>
              <a:rPr lang="en" sz="935">
                <a:solidFill>
                  <a:srgbClr val="4A5568"/>
                </a:solidFill>
              </a:rPr>
              <a:t>Significantly outperformed other cities.</a:t>
            </a:r>
            <a:endParaRPr sz="935">
              <a:solidFill>
                <a:srgbClr val="4A5568"/>
              </a:solidFill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390650"/>
            <a:ext cx="405765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4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Which shipping method was most frequently used by buyers?</a:t>
            </a:r>
            <a:endParaRPr b="0" sz="204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local_shipping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Shipping Method Preference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Standard Class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Dominates with Over 20.5B in Sales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287973" lvl="0" marL="457200" rtl="0" algn="l">
              <a:spcBef>
                <a:spcPts val="1125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Standard Class: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Highly preferred choice, representing the vast majority of orders.</a:t>
            </a:r>
            <a:endParaRPr b="1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Second &amp; First Class: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Moderate usage, offering a reliable balance of cost and delivery speed.</a:t>
            </a:r>
            <a:endParaRPr b="1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Same Day: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Lowest frequency, typically selected only for urgent delivery requirements.</a:t>
            </a:r>
            <a:endParaRPr b="1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90638"/>
            <a:ext cx="400050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4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Which month saw the highest sales between 2014 and 2017?</a:t>
            </a:r>
            <a:endParaRPr b="0" sz="204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trending_up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 Sales Trend Analysis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November 2017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Peak Sales Reached Approximately IDR 1.8 Billion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1125"/>
              </a:spcBef>
              <a:spcAft>
                <a:spcPts val="0"/>
              </a:spcAft>
              <a:buClr>
                <a:srgbClr val="4A5568"/>
              </a:buClr>
              <a:buSzPts val="1700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Peak Sales: </a:t>
            </a:r>
            <a:r>
              <a:rPr lang="en" sz="935">
                <a:solidFill>
                  <a:srgbClr val="4A5568"/>
                </a:solidFill>
              </a:rPr>
              <a:t>Occurred in November 2017, reaching a value of approximately IDR 1.8 billion.</a:t>
            </a:r>
            <a:endParaRPr sz="935">
              <a:solidFill>
                <a:srgbClr val="4A5568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700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Growth Trend: </a:t>
            </a:r>
            <a:r>
              <a:rPr lang="en" sz="935">
                <a:solidFill>
                  <a:srgbClr val="4A5568"/>
                </a:solidFill>
              </a:rPr>
              <a:t>Shows seasonal fluctuations with a significant upward trend towards the end of 2017.</a:t>
            </a:r>
            <a:endParaRPr sz="935">
              <a:solidFill>
                <a:srgbClr val="4A5568"/>
              </a:solidFill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390638"/>
            <a:ext cx="3943350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What is the estimated profit from the store's sales?</a:t>
            </a:r>
            <a:endParaRPr b="0" i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 b="14843" l="0" r="0" t="14843"/>
          <a:stretch/>
        </p:blipFill>
        <p:spPr>
          <a:xfrm>
            <a:off x="666750" y="1524000"/>
            <a:ext cx="3619500" cy="2857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142" name="Google Shape;142;p22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insights</a:t>
            </a:r>
            <a:r>
              <a:rPr b="1" i="0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 Model Performance Analysis</a:t>
            </a:r>
            <a:endParaRPr b="1" i="0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Gradient Boosting Wins</a:t>
            </a:r>
            <a:br>
              <a:rPr b="1" i="0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i="0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Selected as Primary Model with 0.838 R²</a:t>
            </a:r>
            <a:endParaRPr b="1" i="0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287973" lvl="0" marL="457200" rtl="0" algn="l">
              <a:spcBef>
                <a:spcPts val="1125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Best Predictor: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Achieved lowest RMSE of </a:t>
            </a: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IDR 1.20 million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on holdout test data.</a:t>
            </a:r>
            <a:endParaRPr b="1" i="0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High Accuracy: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Explains </a:t>
            </a: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83.8%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of profit variation, beating Random Forest and Linear Regression.</a:t>
            </a:r>
            <a:endParaRPr b="1" i="0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Underprediction: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Estimated profit of </a:t>
            </a: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IDR 819.20M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vs. actual IDR 888.81M (7.83% error).</a:t>
            </a:r>
            <a:endParaRPr b="1" i="0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>
            <p:ph type="title"/>
          </p:nvPr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Conclusion &amp; Recommendation</a:t>
            </a:r>
            <a:endParaRPr b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23"/>
          <p:cNvGrpSpPr/>
          <p:nvPr/>
        </p:nvGrpSpPr>
        <p:grpSpPr>
          <a:xfrm>
            <a:off x="571500" y="1428750"/>
            <a:ext cx="3905400" cy="3143400"/>
            <a:chOff x="0" y="0"/>
            <a:chExt cx="3905400" cy="3143400"/>
          </a:xfrm>
        </p:grpSpPr>
        <p:sp>
          <p:nvSpPr>
            <p:cNvPr id="151" name="Google Shape;151;p23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484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3"/>
            <p:cNvSpPr txBox="1"/>
            <p:nvPr/>
          </p:nvSpPr>
          <p:spPr>
            <a:xfrm>
              <a:off x="238125" y="238125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r>
                <a:rPr b="1" lang="en" sz="153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Key Conclusions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Tech &amp; Balikpapan Drive Growth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2889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Technology Dominance: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Technology leads category sales with 12.6B, followed closely by furniture.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Regional Stronghold: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Balikpapan emerges as the primary driver of regional sales performance.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Standard Shipping: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Standard Class remains the most preferred shipment choice for buyers.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23"/>
          <p:cNvGrpSpPr/>
          <p:nvPr/>
        </p:nvGrpSpPr>
        <p:grpSpPr>
          <a:xfrm>
            <a:off x="4667250" y="1428750"/>
            <a:ext cx="3905400" cy="3143400"/>
            <a:chOff x="0" y="0"/>
            <a:chExt cx="3905400" cy="3143400"/>
          </a:xfrm>
        </p:grpSpPr>
        <p:sp>
          <p:nvSpPr>
            <p:cNvPr id="154" name="Google Shape;154;p23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484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 txBox="1"/>
            <p:nvPr/>
          </p:nvSpPr>
          <p:spPr>
            <a:xfrm>
              <a:off x="238125" y="238125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</a:t>
              </a:r>
              <a:r>
                <a:rPr b="1" lang="en" sz="153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Strategic Recommendations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Target Regional Tech Buyers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2889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Optimize Product Mix: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Increase high-value accessory inventory in Tech to boost average order value.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Balikpapan Expansion: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Launch hyper-local marketing and build partnerships in high-performing regions.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Seasonal Campaigning: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Allocate promotional budgets heavily toward the peak November sales trend.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